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2" ContentType="image/x-e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80" r:id="rId3"/>
    <p:sldId id="260" r:id="rId4"/>
    <p:sldId id="259" r:id="rId5"/>
    <p:sldId id="266" r:id="rId6"/>
    <p:sldId id="281" r:id="rId7"/>
    <p:sldId id="283" r:id="rId8"/>
    <p:sldId id="274" r:id="rId9"/>
  </p:sldIdLst>
  <p:sldSz cx="18288000" cy="10287000"/>
  <p:notesSz cx="6858000" cy="9144000"/>
  <p:embeddedFontLst>
    <p:embeddedFont>
      <p:font typeface="Roboto Bold" panose="020B0604020202020204" charset="0"/>
      <p:regular r:id="rId11"/>
    </p:embeddedFont>
    <p:embeddedFont>
      <p:font typeface="HK Grotesk Light" panose="020B0604020202020204" charset="-52"/>
      <p:regular r:id="rId12"/>
    </p:embeddedFont>
    <p:embeddedFont>
      <p:font typeface="Roboto" panose="020B0604020202020204" charset="0"/>
      <p:regular r:id="rId13"/>
    </p:embeddedFont>
    <p:embeddedFont>
      <p:font typeface="HK Grotesk Light Bold" panose="020B0604020202020204" charset="-52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6433" autoAdjust="0"/>
  </p:normalViewPr>
  <p:slideViewPr>
    <p:cSldViewPr>
      <p:cViewPr>
        <p:scale>
          <a:sx n="66" d="100"/>
          <a:sy n="66" d="100"/>
        </p:scale>
        <p:origin x="1014" y="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2C366-27D0-4CAE-9245-47367688BD85}" type="datetimeFigureOut">
              <a:rPr lang="ru-RU" smtClean="0"/>
              <a:t>17.02.2022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927D5-8856-4ADA-9DFD-949B4487CC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92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927D5-8856-4ADA-9DFD-949B4487CC8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891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927D5-8856-4ADA-9DFD-949B4487CC8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012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927D5-8856-4ADA-9DFD-949B4487CC8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554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9927D5-8856-4ADA-9DFD-949B4487CC8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851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svg"/><Relationship Id="rId5" Type="http://schemas.openxmlformats.org/officeDocument/2006/relationships/image" Target="../media/image10.png"/><Relationship Id="rId4" Type="http://schemas.openxmlformats.org/officeDocument/2006/relationships/image" Target="../media/image9.2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18288000" cy="1029652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-1295400" y="2705099"/>
            <a:ext cx="13859372" cy="5996497"/>
            <a:chOff x="-3098800" y="-813948"/>
            <a:chExt cx="18479162" cy="5729509"/>
          </a:xfrm>
        </p:grpSpPr>
        <p:sp>
          <p:nvSpPr>
            <p:cNvPr id="7" name="TextBox 7"/>
            <p:cNvSpPr txBox="1"/>
            <p:nvPr/>
          </p:nvSpPr>
          <p:spPr>
            <a:xfrm>
              <a:off x="1371600" y="-813948"/>
              <a:ext cx="14008762" cy="4205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189"/>
                </a:lnSpc>
              </a:pPr>
              <a:r>
                <a:rPr lang="ru-RU" sz="6825" dirty="0">
                  <a:solidFill>
                    <a:srgbClr val="FAFAFA"/>
                  </a:solidFill>
                  <a:latin typeface="HK Grotesk Light Bold"/>
                </a:rPr>
                <a:t>Предложение по автоматизации рабочего места преподавателя</a:t>
              </a:r>
              <a:endParaRPr lang="en-US" sz="6825" dirty="0">
                <a:solidFill>
                  <a:srgbClr val="FAFAFA"/>
                </a:solidFill>
                <a:latin typeface="HK Grotesk Light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3098800" y="4419374"/>
              <a:ext cx="13060087" cy="4961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ru-RU" sz="3000" dirty="0" smtClean="0">
                  <a:solidFill>
                    <a:srgbClr val="FAFAFA"/>
                  </a:solidFill>
                  <a:latin typeface="HK Grotesk Light"/>
                </a:rPr>
                <a:t>МУИВ 2022</a:t>
              </a:r>
              <a:endParaRPr lang="en-US" sz="3000" dirty="0">
                <a:solidFill>
                  <a:srgbClr val="FAFAFA"/>
                </a:solidFill>
                <a:latin typeface="HK Grotesk Ligh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963139" y="7429500"/>
            <a:ext cx="3438120" cy="1652675"/>
            <a:chOff x="0" y="-38100"/>
            <a:chExt cx="4584160" cy="166173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38100"/>
              <a:ext cx="4584160" cy="1661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47"/>
                </a:lnSpc>
                <a:spcBef>
                  <a:spcPct val="0"/>
                </a:spcBef>
              </a:pPr>
              <a:r>
                <a:rPr lang="ru-RU" sz="2574" dirty="0" smtClean="0">
                  <a:solidFill>
                    <a:srgbClr val="FAFAFA"/>
                  </a:solidFill>
                  <a:latin typeface="Roboto Bold"/>
                </a:rPr>
                <a:t>Васильев Алексей ИДС 23.1/б19</a:t>
              </a:r>
            </a:p>
            <a:p>
              <a:pPr marL="0" lvl="0" indent="0" algn="ctr">
                <a:lnSpc>
                  <a:spcPts val="3347"/>
                </a:lnSpc>
                <a:spcBef>
                  <a:spcPct val="0"/>
                </a:spcBef>
              </a:pPr>
              <a:endParaRPr lang="en-US" sz="2574" u="none" dirty="0">
                <a:solidFill>
                  <a:srgbClr val="FAFAFA"/>
                </a:solidFill>
                <a:latin typeface="Roboto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0980" y="795441"/>
              <a:ext cx="3562200" cy="412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50"/>
                </a:lnSpc>
                <a:spcBef>
                  <a:spcPct val="0"/>
                </a:spcBef>
              </a:pPr>
              <a:r>
                <a:rPr lang="en-US" sz="2100" u="none" dirty="0" err="1">
                  <a:solidFill>
                    <a:srgbClr val="FAFAFA"/>
                  </a:solidFill>
                  <a:latin typeface="Roboto"/>
                </a:rPr>
                <a:t>Автор</a:t>
              </a:r>
              <a:r>
                <a:rPr lang="en-US" sz="2100" u="none" dirty="0">
                  <a:solidFill>
                    <a:srgbClr val="FAFAFA"/>
                  </a:solidFill>
                  <a:latin typeface="Roboto"/>
                </a:rPr>
                <a:t> и </a:t>
              </a:r>
              <a:r>
                <a:rPr lang="en-US" sz="2100" u="none" dirty="0" err="1" smtClean="0">
                  <a:solidFill>
                    <a:srgbClr val="FAFAFA"/>
                  </a:solidFill>
                  <a:latin typeface="Roboto"/>
                </a:rPr>
                <a:t>докладчик</a:t>
              </a:r>
              <a:endParaRPr lang="en-US" sz="2100" u="none" dirty="0">
                <a:solidFill>
                  <a:srgbClr val="FAFAFA"/>
                </a:solidFill>
                <a:latin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3453" y="2143299"/>
            <a:ext cx="8761095" cy="102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39"/>
              </a:lnSpc>
            </a:pPr>
            <a:endParaRPr lang="en-US" sz="6699" dirty="0">
              <a:solidFill>
                <a:srgbClr val="FAFAFA"/>
              </a:solidFill>
              <a:latin typeface="HK Grotesk Ligh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533900" y="6902668"/>
            <a:ext cx="9220200" cy="530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0"/>
              </a:lnSpc>
            </a:pPr>
            <a:endParaRPr lang="en-US" sz="3050" dirty="0">
              <a:solidFill>
                <a:srgbClr val="FAFAFA"/>
              </a:solidFill>
              <a:latin typeface="HK Grotesk Ligh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77" y="1299601"/>
            <a:ext cx="17469245" cy="76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3453" y="2143299"/>
            <a:ext cx="8761095" cy="102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39"/>
              </a:lnSpc>
            </a:pPr>
            <a:endParaRPr lang="en-US" sz="6699" dirty="0">
              <a:solidFill>
                <a:srgbClr val="FAFAFA"/>
              </a:solidFill>
              <a:latin typeface="HK Grotesk Ligh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533900" y="6902668"/>
            <a:ext cx="9220200" cy="530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0"/>
              </a:lnSpc>
            </a:pPr>
            <a:endParaRPr lang="en-US" sz="3050" dirty="0">
              <a:solidFill>
                <a:srgbClr val="FAFAFA"/>
              </a:solidFill>
              <a:latin typeface="HK Grotesk Ligh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53" y="1337701"/>
            <a:ext cx="17296094" cy="761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7239000" cy="10305048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7464423" y="2157163"/>
            <a:ext cx="8478022" cy="473311"/>
            <a:chOff x="0" y="-47625"/>
            <a:chExt cx="11304029" cy="631082"/>
          </a:xfrm>
        </p:grpSpPr>
        <p:sp>
          <p:nvSpPr>
            <p:cNvPr id="9" name="TextBox 9"/>
            <p:cNvSpPr txBox="1"/>
            <p:nvPr/>
          </p:nvSpPr>
          <p:spPr>
            <a:xfrm>
              <a:off x="1433007" y="-47625"/>
              <a:ext cx="9871022" cy="581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endParaRPr lang="en-US" sz="2799" u="none" dirty="0">
                <a:solidFill>
                  <a:srgbClr val="1A1A1A"/>
                </a:solidFill>
                <a:latin typeface="Roboto Bold"/>
              </a:endParaRPr>
            </a:p>
          </p:txBody>
        </p:sp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106098"/>
              <a:ext cx="477359" cy="477359"/>
            </a:xfrm>
            <a:prstGeom prst="rect">
              <a:avLst/>
            </a:prstGeom>
          </p:spPr>
        </p:pic>
      </p:grpSp>
      <p:sp>
        <p:nvSpPr>
          <p:cNvPr id="14" name="Прямоугольник 13"/>
          <p:cNvSpPr/>
          <p:nvPr/>
        </p:nvSpPr>
        <p:spPr>
          <a:xfrm>
            <a:off x="8047865" y="1866900"/>
            <a:ext cx="10240135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Автоматизированное </a:t>
            </a:r>
            <a:r>
              <a:rPr lang="ru-RU" sz="3200" dirty="0"/>
              <a:t>рабочее место преподавателя.</a:t>
            </a:r>
            <a:br>
              <a:rPr lang="ru-RU" sz="3200" dirty="0"/>
            </a:br>
            <a:r>
              <a:rPr lang="ru-RU" sz="3200" dirty="0"/>
              <a:t>Позволит решить следующие задачи</a:t>
            </a:r>
            <a:r>
              <a:rPr lang="en-US" sz="32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 smtClean="0">
                <a:latin typeface="HK Grotesk Light" panose="020B0604020202020204" charset="-52"/>
              </a:rPr>
              <a:t>Работа с учебным материалом</a:t>
            </a:r>
            <a:r>
              <a:rPr lang="en-US" sz="3200" dirty="0" smtClean="0">
                <a:latin typeface="HK Grotesk Light" panose="020B0604020202020204" charset="-52"/>
              </a:rPr>
              <a:t>;</a:t>
            </a:r>
            <a:endParaRPr lang="ru-RU" sz="3200" dirty="0" smtClean="0">
              <a:latin typeface="HK Grotesk Light" panose="020B0604020202020204" charset="-5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 smtClean="0">
                <a:latin typeface="HK Grotesk Light" panose="020B0604020202020204" charset="-52"/>
              </a:rPr>
              <a:t>Работа с разными типами данных</a:t>
            </a:r>
            <a:r>
              <a:rPr lang="en-US" sz="3200" dirty="0" smtClean="0">
                <a:latin typeface="HK Grotesk Light" panose="020B0604020202020204" charset="-52"/>
              </a:rPr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 smtClean="0">
                <a:latin typeface="HK Grotesk Light" panose="020B0604020202020204" charset="-52"/>
              </a:rPr>
              <a:t>Уменьшение временных затрат на выполнение задач</a:t>
            </a:r>
            <a:r>
              <a:rPr lang="en-US" sz="3200" dirty="0" smtClean="0">
                <a:latin typeface="HK Grotesk Light" panose="020B0604020202020204" charset="-52"/>
              </a:rPr>
              <a:t>;</a:t>
            </a:r>
            <a:endParaRPr lang="ru-RU" sz="3200" dirty="0" smtClean="0">
              <a:latin typeface="HK Grotesk Light" panose="020B0604020202020204" charset="-5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sz="3200" dirty="0" smtClean="0">
                <a:latin typeface="HK Grotesk Light" panose="020B0604020202020204" charset="-52"/>
              </a:rPr>
              <a:t>Взаимодействие со студентами</a:t>
            </a:r>
            <a:r>
              <a:rPr lang="en-US" sz="3200" dirty="0" smtClean="0">
                <a:latin typeface="HK Grotesk Light" panose="020B0604020202020204" charset="-52"/>
              </a:rPr>
              <a:t>;</a:t>
            </a:r>
            <a:endParaRPr lang="ru-RU" sz="3200" dirty="0" smtClean="0">
              <a:latin typeface="HK Grotesk Light" panose="020B0604020202020204" charset="-5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3200" dirty="0">
              <a:latin typeface="HK Grotesk Light" panose="020B0604020202020204" charset="-52"/>
            </a:endParaRPr>
          </a:p>
          <a:p>
            <a:r>
              <a:rPr lang="ru-RU" sz="3200" b="1" dirty="0">
                <a:latin typeface="HK Grotesk Light" panose="020B0604020202020204" charset="-52"/>
              </a:rPr>
              <a:t>Необходимые улучшения информационной системы института</a:t>
            </a:r>
            <a:r>
              <a:rPr lang="en-US" sz="3200" b="1" dirty="0" smtClean="0">
                <a:latin typeface="HK Grotesk Light" panose="020B0604020202020204" charset="-52"/>
              </a:rPr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3200" dirty="0" smtClean="0">
                <a:latin typeface="HK Grotesk Light" panose="020B0604020202020204" charset="-52"/>
              </a:rPr>
              <a:t>Система в</a:t>
            </a:r>
            <a:r>
              <a:rPr lang="ru-RU" sz="3200" dirty="0" smtClean="0">
                <a:latin typeface="HK Grotesk Light" panose="020B0604020202020204" charset="-52"/>
              </a:rPr>
              <a:t>заимодейств</a:t>
            </a:r>
            <a:r>
              <a:rPr lang="ru-RU" sz="3200" dirty="0" smtClean="0">
                <a:latin typeface="HK Grotesk Light" panose="020B0604020202020204" charset="-52"/>
              </a:rPr>
              <a:t>ия </a:t>
            </a:r>
            <a:r>
              <a:rPr lang="ru-RU" sz="3200" dirty="0" smtClean="0">
                <a:latin typeface="HK Grotesk Light" panose="020B0604020202020204" charset="-52"/>
              </a:rPr>
              <a:t>учеников </a:t>
            </a:r>
            <a:r>
              <a:rPr lang="ru-RU" sz="3200" dirty="0" smtClean="0">
                <a:latin typeface="HK Grotesk Light" panose="020B0604020202020204" charset="-52"/>
              </a:rPr>
              <a:t>с преподавателями</a:t>
            </a:r>
            <a:r>
              <a:rPr lang="en-US" sz="3200" dirty="0" smtClean="0">
                <a:latin typeface="HK Grotesk Light" panose="020B0604020202020204" charset="-52"/>
              </a:rPr>
              <a:t>;</a:t>
            </a:r>
            <a:endParaRPr lang="ru-RU" sz="3200" dirty="0" smtClean="0">
              <a:latin typeface="HK Grotesk Light" panose="020B0604020202020204" charset="-5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3200" dirty="0" smtClean="0">
                <a:latin typeface="HK Grotesk Light" panose="020B0604020202020204" charset="-52"/>
              </a:rPr>
              <a:t>Система </a:t>
            </a:r>
            <a:r>
              <a:rPr lang="ru-RU" sz="3200" dirty="0" smtClean="0">
                <a:latin typeface="HK Grotesk Light" panose="020B0604020202020204" charset="-52"/>
              </a:rPr>
              <a:t>выполняемых работ</a:t>
            </a:r>
            <a:r>
              <a:rPr lang="en-US" sz="3200" dirty="0" smtClean="0">
                <a:latin typeface="HK Grotesk Light" panose="020B0604020202020204" charset="-52"/>
              </a:rPr>
              <a:t>;</a:t>
            </a:r>
            <a:endParaRPr lang="ru-RU" sz="3200" dirty="0" smtClean="0">
              <a:latin typeface="HK Grotesk Light" panose="020B0604020202020204" charset="-5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3200" dirty="0" smtClean="0">
                <a:latin typeface="HK Grotesk Light" panose="020B0604020202020204" charset="-52"/>
              </a:rPr>
              <a:t>Ведение </a:t>
            </a:r>
            <a:r>
              <a:rPr lang="ru-RU" sz="3200" dirty="0" smtClean="0">
                <a:latin typeface="HK Grotesk Light" panose="020B0604020202020204" charset="-52"/>
              </a:rPr>
              <a:t>журнал</a:t>
            </a:r>
            <a:r>
              <a:rPr lang="ru-RU" sz="3200" dirty="0" smtClean="0">
                <a:latin typeface="HK Grotesk Light" panose="020B0604020202020204" charset="-52"/>
              </a:rPr>
              <a:t>ов</a:t>
            </a:r>
            <a:r>
              <a:rPr lang="ru-RU" sz="3200" dirty="0" smtClean="0">
                <a:latin typeface="HK Grotesk Light" panose="020B0604020202020204" charset="-52"/>
              </a:rPr>
              <a:t> </a:t>
            </a:r>
            <a:r>
              <a:rPr lang="ru-RU" sz="3200" dirty="0" smtClean="0">
                <a:latin typeface="HK Grotesk Light" panose="020B0604020202020204" charset="-52"/>
              </a:rPr>
              <a:t>для создания статистики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dirty="0">
              <a:latin typeface="HK Grotesk Light" panose="020B0604020202020204" charset="-52"/>
            </a:endParaRPr>
          </a:p>
          <a:p>
            <a:pPr lvl="1"/>
            <a:endParaRPr lang="ru-RU" sz="2400" dirty="0">
              <a:latin typeface="HK Grotesk Light" panose="020B0604020202020204" charset="-52"/>
            </a:endParaRPr>
          </a:p>
        </p:txBody>
      </p:sp>
      <p:grpSp>
        <p:nvGrpSpPr>
          <p:cNvPr id="15" name="Group 8"/>
          <p:cNvGrpSpPr/>
          <p:nvPr/>
        </p:nvGrpSpPr>
        <p:grpSpPr>
          <a:xfrm>
            <a:off x="7464423" y="5983296"/>
            <a:ext cx="8478022" cy="473311"/>
            <a:chOff x="0" y="-47625"/>
            <a:chExt cx="11304029" cy="631082"/>
          </a:xfrm>
        </p:grpSpPr>
        <p:sp>
          <p:nvSpPr>
            <p:cNvPr id="16" name="TextBox 9"/>
            <p:cNvSpPr txBox="1"/>
            <p:nvPr/>
          </p:nvSpPr>
          <p:spPr>
            <a:xfrm>
              <a:off x="1433007" y="-47625"/>
              <a:ext cx="9871022" cy="581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endParaRPr lang="en-US" sz="2799" u="none" dirty="0">
                <a:solidFill>
                  <a:srgbClr val="1A1A1A"/>
                </a:solidFill>
                <a:latin typeface="Roboto Bold"/>
              </a:endParaRPr>
            </a:p>
          </p:txBody>
        </p:sp>
        <p:pic>
          <p:nvPicPr>
            <p:cNvPr id="17" name="Picture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106098"/>
              <a:ext cx="477359" cy="477359"/>
            </a:xfrm>
            <a:prstGeom prst="rect">
              <a:avLst/>
            </a:prstGeom>
          </p:spPr>
        </p:pic>
      </p:grpSp>
      <p:grpSp>
        <p:nvGrpSpPr>
          <p:cNvPr id="18" name="Group 6"/>
          <p:cNvGrpSpPr/>
          <p:nvPr/>
        </p:nvGrpSpPr>
        <p:grpSpPr>
          <a:xfrm>
            <a:off x="9095104" y="233713"/>
            <a:ext cx="9173562" cy="1384374"/>
            <a:chOff x="-25779" y="0"/>
            <a:chExt cx="12231416" cy="1845832"/>
          </a:xfrm>
        </p:grpSpPr>
        <p:pic>
          <p:nvPicPr>
            <p:cNvPr id="19" name="Picture 7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 rot="10800000">
              <a:off x="-25779" y="0"/>
              <a:ext cx="12231416" cy="1845832"/>
            </a:xfrm>
            <a:prstGeom prst="rect">
              <a:avLst/>
            </a:prstGeom>
          </p:spPr>
        </p:pic>
        <p:sp>
          <p:nvSpPr>
            <p:cNvPr id="20" name="TextBox 8"/>
            <p:cNvSpPr txBox="1"/>
            <p:nvPr/>
          </p:nvSpPr>
          <p:spPr>
            <a:xfrm>
              <a:off x="1157016" y="531868"/>
              <a:ext cx="10308675" cy="782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4480"/>
                </a:lnSpc>
                <a:spcBef>
                  <a:spcPct val="0"/>
                </a:spcBef>
              </a:pPr>
              <a:r>
                <a:rPr lang="ru-RU" sz="4000" b="1" dirty="0">
                  <a:solidFill>
                    <a:schemeClr val="bg1"/>
                  </a:solidFill>
                  <a:latin typeface="HK Grotesk Light Bold" panose="020B0604020202020204" charset="-52"/>
                </a:rPr>
                <a:t>Способ решения проблем</a:t>
              </a:r>
              <a:endParaRPr lang="en-US" sz="4000" b="1" u="none" dirty="0">
                <a:solidFill>
                  <a:schemeClr val="bg1"/>
                </a:solidFill>
                <a:latin typeface="HK Grotesk Light Bold" panose="020B0604020202020204" charset="-5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8229"/>
            <a:chOff x="-34877" y="887076"/>
            <a:chExt cx="24418877" cy="1537864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r="24693"/>
            <a:stretch>
              <a:fillRect/>
            </a:stretch>
          </p:blipFill>
          <p:spPr>
            <a:xfrm>
              <a:off x="12828361" y="920940"/>
              <a:ext cx="11555639" cy="15344784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 r="24693"/>
            <a:stretch>
              <a:fillRect/>
            </a:stretch>
          </p:blipFill>
          <p:spPr>
            <a:xfrm>
              <a:off x="-34877" y="887076"/>
              <a:ext cx="11090240" cy="15340311"/>
            </a:xfrm>
            <a:prstGeom prst="rect">
              <a:avLst/>
            </a:prstGeom>
          </p:spPr>
        </p:pic>
      </p:grpSp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1" y="876300"/>
            <a:ext cx="18116837" cy="7162800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36426" y="8343900"/>
            <a:ext cx="11205151" cy="1394323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533400" y="8656340"/>
            <a:ext cx="885691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latin typeface="HK Grotesk Light Bold" panose="020B0604020202020204" charset="-52"/>
              </a:rPr>
              <a:t>Карта информационных систем</a:t>
            </a: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10800000">
            <a:off x="1664700" y="4991100"/>
            <a:ext cx="6641100" cy="1394323"/>
          </a:xfrm>
          <a:prstGeom prst="rect">
            <a:avLst/>
          </a:prstGeom>
        </p:spPr>
      </p:pic>
      <p:pic>
        <p:nvPicPr>
          <p:cNvPr id="1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10800000">
            <a:off x="11646900" y="8343900"/>
            <a:ext cx="6641100" cy="1394323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1828800" y="5395874"/>
            <a:ext cx="5867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>
                <a:solidFill>
                  <a:schemeClr val="bg1"/>
                </a:solidFill>
                <a:latin typeface="HK Grotesk Light Bold" panose="020B0604020202020204" charset="-52"/>
              </a:rPr>
              <a:t>Существующая система</a:t>
            </a:r>
            <a:endParaRPr lang="ru-RU" sz="3200" b="1" dirty="0">
              <a:solidFill>
                <a:schemeClr val="bg1"/>
              </a:solidFill>
              <a:latin typeface="HK Grotesk Light Bold" panose="020B0604020202020204" charset="-52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11762946" y="8748672"/>
            <a:ext cx="49632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bg1"/>
                </a:solidFill>
                <a:latin typeface="HK Grotesk Light Bold" panose="020B0604020202020204" charset="-52"/>
              </a:rPr>
              <a:t>Разработанная система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3453" y="2143299"/>
            <a:ext cx="8761095" cy="102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39"/>
              </a:lnSpc>
            </a:pPr>
            <a:endParaRPr lang="en-US" sz="6699" dirty="0">
              <a:solidFill>
                <a:srgbClr val="FAFAFA"/>
              </a:solidFill>
              <a:latin typeface="HK Grotesk Ligh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533900" y="6902668"/>
            <a:ext cx="9220200" cy="530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0"/>
              </a:lnSpc>
            </a:pPr>
            <a:endParaRPr lang="en-US" sz="3050" dirty="0">
              <a:solidFill>
                <a:srgbClr val="FAFAFA"/>
              </a:solidFill>
              <a:latin typeface="HK Grotesk Ligh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57739"/>
            <a:ext cx="17775374" cy="923396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67653" y="8469690"/>
            <a:ext cx="8991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K Grotesk Light" panose="020B0604020202020204" charset="-52"/>
              </a:rPr>
              <a:t>Информационные объекты</a:t>
            </a:r>
            <a:br>
              <a:rPr lang="ru-RU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K Grotesk Light" panose="020B0604020202020204" charset="-52"/>
              </a:rPr>
            </a:br>
            <a:r>
              <a:rPr lang="ru-RU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K Grotesk Light" panose="020B0604020202020204" charset="-52"/>
              </a:rPr>
              <a:t>в системе института</a:t>
            </a:r>
          </a:p>
        </p:txBody>
      </p:sp>
    </p:spTree>
    <p:extLst>
      <p:ext uri="{BB962C8B-B14F-4D97-AF65-F5344CB8AC3E}">
        <p14:creationId xmlns:p14="http://schemas.microsoft.com/office/powerpoint/2010/main" val="82171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0" y="-184366"/>
            <a:ext cx="18288000" cy="10471366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3453" y="2143299"/>
            <a:ext cx="8761095" cy="102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39"/>
              </a:lnSpc>
            </a:pPr>
            <a:endParaRPr lang="en-US" sz="6699" dirty="0">
              <a:solidFill>
                <a:srgbClr val="FAFAFA"/>
              </a:solidFill>
              <a:latin typeface="HK Grotesk Ligh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533900" y="6902668"/>
            <a:ext cx="9220200" cy="530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0"/>
              </a:lnSpc>
            </a:pPr>
            <a:endParaRPr lang="en-US" sz="3050" dirty="0">
              <a:solidFill>
                <a:srgbClr val="FAFAFA"/>
              </a:solidFill>
              <a:latin typeface="HK Grotesk Ligh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695926" y="9132901"/>
            <a:ext cx="148961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K Grotesk Light" panose="020B0604020202020204" charset="-52"/>
              </a:rPr>
              <a:t>Приложения на АРМ преподавателя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/>
          <a:srcRect l="-34167" t="10740" r="34167" b="10741"/>
          <a:stretch/>
        </p:blipFill>
        <p:spPr>
          <a:xfrm>
            <a:off x="-4724400" y="132773"/>
            <a:ext cx="19659600" cy="868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2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7226" y="2010760"/>
            <a:ext cx="15663698" cy="626547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9427451" y="-4254719"/>
            <a:ext cx="15663698" cy="626547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9427451" y="8276240"/>
            <a:ext cx="15663698" cy="6265479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671673" y="3951903"/>
            <a:ext cx="5559598" cy="1950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9"/>
              </a:lnSpc>
            </a:pPr>
            <a:r>
              <a:rPr lang="en-US" sz="6399">
                <a:solidFill>
                  <a:srgbClr val="FAFAFA"/>
                </a:solidFill>
                <a:latin typeface="HK Grotesk Light Bold"/>
              </a:rPr>
              <a:t>Спасибо за внимание!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91400" y="3865543"/>
            <a:ext cx="6088131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dirty="0" err="1">
                <a:solidFill>
                  <a:srgbClr val="FAFAFA"/>
                </a:solidFill>
                <a:latin typeface="HK Grotesk Light"/>
              </a:rPr>
              <a:t>Не</a:t>
            </a:r>
            <a:r>
              <a:rPr lang="en-US" sz="3200" dirty="0">
                <a:solidFill>
                  <a:srgbClr val="FAFAFA"/>
                </a:solidFill>
                <a:latin typeface="HK Grotesk Light"/>
              </a:rPr>
              <a:t> </a:t>
            </a:r>
            <a:r>
              <a:rPr lang="en-US" sz="3200" dirty="0" err="1">
                <a:solidFill>
                  <a:srgbClr val="FAFAFA"/>
                </a:solidFill>
                <a:latin typeface="HK Grotesk Light"/>
              </a:rPr>
              <a:t>стесняйтесь</a:t>
            </a:r>
            <a:r>
              <a:rPr lang="en-US" sz="3200" dirty="0">
                <a:solidFill>
                  <a:srgbClr val="FAFAFA"/>
                </a:solidFill>
                <a:latin typeface="HK Grotesk Light"/>
              </a:rPr>
              <a:t> </a:t>
            </a:r>
            <a:r>
              <a:rPr lang="en-US" sz="3200" dirty="0" err="1">
                <a:solidFill>
                  <a:srgbClr val="FAFAFA"/>
                </a:solidFill>
                <a:latin typeface="HK Grotesk Light"/>
              </a:rPr>
              <a:t>присылать</a:t>
            </a:r>
            <a:r>
              <a:rPr lang="en-US" sz="3200" dirty="0">
                <a:solidFill>
                  <a:srgbClr val="FAFAFA"/>
                </a:solidFill>
                <a:latin typeface="HK Grotesk Light"/>
              </a:rPr>
              <a:t> </a:t>
            </a:r>
            <a:r>
              <a:rPr lang="en-US" sz="3200" dirty="0" err="1">
                <a:solidFill>
                  <a:srgbClr val="FAFAFA"/>
                </a:solidFill>
                <a:latin typeface="HK Grotesk Light"/>
              </a:rPr>
              <a:t>нам</a:t>
            </a:r>
            <a:r>
              <a:rPr lang="en-US" sz="3200" dirty="0">
                <a:solidFill>
                  <a:srgbClr val="FAFAFA"/>
                </a:solidFill>
                <a:latin typeface="HK Grotesk Light"/>
              </a:rPr>
              <a:t> </a:t>
            </a:r>
            <a:r>
              <a:rPr lang="en-US" sz="3200" dirty="0" err="1">
                <a:solidFill>
                  <a:srgbClr val="FAFAFA"/>
                </a:solidFill>
                <a:latin typeface="HK Grotesk Light"/>
              </a:rPr>
              <a:t>ваши</a:t>
            </a:r>
            <a:r>
              <a:rPr lang="en-US" sz="3200" dirty="0">
                <a:solidFill>
                  <a:srgbClr val="FAFAFA"/>
                </a:solidFill>
                <a:latin typeface="HK Grotesk Light"/>
              </a:rPr>
              <a:t> </a:t>
            </a:r>
            <a:r>
              <a:rPr lang="en-US" sz="3200" dirty="0" err="1">
                <a:solidFill>
                  <a:srgbClr val="FAFAFA"/>
                </a:solidFill>
                <a:latin typeface="HK Grotesk Light"/>
              </a:rPr>
              <a:t>вопросы</a:t>
            </a:r>
            <a:r>
              <a:rPr lang="en-US" sz="3200" dirty="0">
                <a:solidFill>
                  <a:srgbClr val="FAFAFA"/>
                </a:solidFill>
                <a:latin typeface="HK Grotesk Light"/>
              </a:rPr>
              <a:t> в </a:t>
            </a:r>
            <a:r>
              <a:rPr lang="en-US" sz="3200" dirty="0" err="1">
                <a:solidFill>
                  <a:srgbClr val="FAFAFA"/>
                </a:solidFill>
                <a:latin typeface="HK Grotesk Light"/>
              </a:rPr>
              <a:t>любое</a:t>
            </a:r>
            <a:r>
              <a:rPr lang="en-US" sz="3200" dirty="0">
                <a:solidFill>
                  <a:srgbClr val="FAFAFA"/>
                </a:solidFill>
                <a:latin typeface="HK Grotesk Light"/>
              </a:rPr>
              <a:t> </a:t>
            </a:r>
            <a:r>
              <a:rPr lang="en-US" sz="3200" dirty="0" err="1">
                <a:solidFill>
                  <a:srgbClr val="FAFAFA"/>
                </a:solidFill>
                <a:latin typeface="HK Grotesk Light"/>
              </a:rPr>
              <a:t>время</a:t>
            </a:r>
            <a:r>
              <a:rPr lang="en-US" sz="3200" dirty="0" smtClean="0">
                <a:solidFill>
                  <a:srgbClr val="FAFAFA"/>
                </a:solidFill>
                <a:latin typeface="HK Grotesk Light"/>
              </a:rPr>
              <a:t>: alex9110352s500yoyo@yandex.ru</a:t>
            </a:r>
            <a:endParaRPr lang="en-US" sz="3200" dirty="0">
              <a:solidFill>
                <a:srgbClr val="FAFAFA"/>
              </a:solidFill>
              <a:latin typeface="HK Grotesk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55</Words>
  <Application>Microsoft Office PowerPoint</Application>
  <PresentationFormat>Произвольный</PresentationFormat>
  <Paragraphs>26</Paragraphs>
  <Slides>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Roboto Bold</vt:lpstr>
      <vt:lpstr>HK Grotesk Light</vt:lpstr>
      <vt:lpstr>Roboto</vt:lpstr>
      <vt:lpstr>HK Grotesk Light Bold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Студент</cp:lastModifiedBy>
  <cp:revision>14</cp:revision>
  <dcterms:created xsi:type="dcterms:W3CDTF">2006-08-16T00:00:00Z</dcterms:created>
  <dcterms:modified xsi:type="dcterms:W3CDTF">2022-02-17T15:22:31Z</dcterms:modified>
  <dc:identifier>DAE4nDeD1xY</dc:identifier>
</cp:coreProperties>
</file>