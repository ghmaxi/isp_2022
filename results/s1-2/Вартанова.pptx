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9" r:id="rId4"/>
    <p:sldId id="260" r:id="rId5"/>
    <p:sldId id="265" r:id="rId6"/>
    <p:sldId id="262" r:id="rId7"/>
    <p:sldId id="264" r:id="rId8"/>
    <p:sldId id="267" r:id="rId9"/>
  </p:sldIdLst>
  <p:sldSz cx="18288000" cy="10287000"/>
  <p:notesSz cx="6858000" cy="9144000"/>
  <p:embeddedFontLst>
    <p:embeddedFont>
      <p:font typeface="Efour Digital Pro" panose="020B0604020202020204" charset="0"/>
      <p:regular r:id="rId11"/>
    </p:embeddedFont>
    <p:embeddedFont>
      <p:font typeface="Clear Sans Regular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CFC7"/>
    <a:srgbClr val="7D8A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71219-4F70-4FDC-A1D0-8265CA97B86F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C5451-590A-459B-9150-3F39DDB8B1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60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AC5451-590A-459B-9150-3F39DDB8B1C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04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8A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016799">
            <a:off x="9278649" y="-2934586"/>
            <a:ext cx="11406363" cy="9923536"/>
          </a:xfrm>
          <a:prstGeom prst="rect">
            <a:avLst/>
          </a:prstGeom>
        </p:spPr>
      </p:pic>
      <p:pic>
        <p:nvPicPr>
          <p:cNvPr id="13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6070083">
            <a:off x="-2436001" y="1805841"/>
            <a:ext cx="8338090" cy="725413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028700" y="940303"/>
            <a:ext cx="16230600" cy="7611808"/>
            <a:chOff x="640341" y="-945458"/>
            <a:chExt cx="20983485" cy="9491123"/>
          </a:xfrm>
        </p:grpSpPr>
        <p:sp>
          <p:nvSpPr>
            <p:cNvPr id="3" name="TextBox 3"/>
            <p:cNvSpPr txBox="1"/>
            <p:nvPr/>
          </p:nvSpPr>
          <p:spPr>
            <a:xfrm>
              <a:off x="1303826" y="1350071"/>
              <a:ext cx="20320000" cy="71955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000"/>
                </a:lnSpc>
              </a:pPr>
              <a:r>
                <a:rPr lang="ru-RU" sz="8800" dirty="0">
                  <a:solidFill>
                    <a:srgbClr val="FFFAEF"/>
                  </a:solidFill>
                  <a:latin typeface="Efour Digital Pro"/>
                </a:rPr>
                <a:t>П</a:t>
              </a:r>
              <a:r>
                <a:rPr lang="ru-RU" sz="8800" dirty="0" smtClean="0">
                  <a:solidFill>
                    <a:srgbClr val="FFFAEF"/>
                  </a:solidFill>
                  <a:latin typeface="Efour Digital Pro"/>
                </a:rPr>
                <a:t>риложение по автоматизации</a:t>
              </a:r>
            </a:p>
            <a:p>
              <a:pPr algn="ctr">
                <a:lnSpc>
                  <a:spcPts val="15000"/>
                </a:lnSpc>
              </a:pPr>
              <a:r>
                <a:rPr lang="ru-RU" sz="6600" dirty="0" smtClean="0">
                  <a:solidFill>
                    <a:srgbClr val="FFFAEF"/>
                  </a:solidFill>
                  <a:latin typeface="Efour Digital Pro"/>
                </a:rPr>
                <a:t>Рабочего места преподавателя</a:t>
              </a:r>
              <a:endParaRPr lang="en-US" sz="6600" dirty="0">
                <a:solidFill>
                  <a:srgbClr val="FFFAEF"/>
                </a:solidFill>
                <a:latin typeface="Efour Digital Pro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0341" y="-945458"/>
              <a:ext cx="20740120" cy="1822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40"/>
                </a:lnSpc>
              </a:pPr>
              <a:endParaRPr dirty="0"/>
            </a:p>
            <a:p>
              <a:pPr algn="ctr">
                <a:lnSpc>
                  <a:spcPts val="5740"/>
                </a:lnSpc>
              </a:pPr>
              <a:r>
                <a:rPr lang="ru-RU" sz="4100" dirty="0" err="1" smtClean="0">
                  <a:solidFill>
                    <a:srgbClr val="FFFAEF"/>
                  </a:solidFill>
                  <a:latin typeface="Clear Sans Regular"/>
                </a:rPr>
                <a:t>Вартанова</a:t>
              </a:r>
              <a:r>
                <a:rPr lang="ru-RU" sz="4100" dirty="0" smtClean="0">
                  <a:solidFill>
                    <a:srgbClr val="FFFAEF"/>
                  </a:solidFill>
                  <a:latin typeface="Clear Sans Regular"/>
                </a:rPr>
                <a:t> А.Р.</a:t>
              </a:r>
              <a:endParaRPr lang="en-US" sz="4100" dirty="0">
                <a:solidFill>
                  <a:srgbClr val="FFFAEF"/>
                </a:solidFill>
                <a:latin typeface="Clear Sans Regular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028700"/>
            <a:ext cx="367402" cy="346352"/>
            <a:chOff x="0" y="0"/>
            <a:chExt cx="489869" cy="461803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489869" cy="0"/>
            </a:xfrm>
            <a:prstGeom prst="line">
              <a:avLst/>
            </a:prstGeom>
            <a:ln w="50800" cap="rnd">
              <a:solidFill>
                <a:srgbClr val="FFFAE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>
              <a:off x="0" y="205275"/>
              <a:ext cx="489869" cy="0"/>
            </a:xfrm>
            <a:prstGeom prst="line">
              <a:avLst/>
            </a:prstGeom>
            <a:ln w="50800" cap="rnd">
              <a:solidFill>
                <a:srgbClr val="FFFAE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>
              <a:off x="0" y="410931"/>
              <a:ext cx="489869" cy="0"/>
            </a:xfrm>
            <a:prstGeom prst="line">
              <a:avLst/>
            </a:prstGeom>
            <a:ln w="50800" cap="rnd">
              <a:solidFill>
                <a:srgbClr val="FFFAE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6356600" y="9076225"/>
            <a:ext cx="902700" cy="182075"/>
            <a:chOff x="0" y="0"/>
            <a:chExt cx="2128209" cy="429260"/>
          </a:xfrm>
        </p:grpSpPr>
        <p:sp>
          <p:nvSpPr>
            <p:cNvPr id="11" name="Freeform 11"/>
            <p:cNvSpPr/>
            <p:nvPr/>
          </p:nvSpPr>
          <p:spPr>
            <a:xfrm>
              <a:off x="0" y="-5080"/>
              <a:ext cx="2128209" cy="434340"/>
            </a:xfrm>
            <a:custGeom>
              <a:avLst/>
              <a:gdLst/>
              <a:ahLst/>
              <a:cxnLst/>
              <a:rect l="l" t="t" r="r" b="b"/>
              <a:pathLst>
                <a:path w="2128209" h="434340">
                  <a:moveTo>
                    <a:pt x="2110429" y="187960"/>
                  </a:moveTo>
                  <a:lnTo>
                    <a:pt x="1848809" y="11430"/>
                  </a:lnTo>
                  <a:cubicBezTo>
                    <a:pt x="1831029" y="0"/>
                    <a:pt x="1808169" y="3810"/>
                    <a:pt x="1795469" y="21590"/>
                  </a:cubicBezTo>
                  <a:cubicBezTo>
                    <a:pt x="1784039" y="39370"/>
                    <a:pt x="1787849" y="62230"/>
                    <a:pt x="1805629" y="74930"/>
                  </a:cubicBezTo>
                  <a:lnTo>
                    <a:pt x="1964379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1964379" y="257810"/>
                  </a:lnTo>
                  <a:lnTo>
                    <a:pt x="1805629" y="364490"/>
                  </a:lnTo>
                  <a:cubicBezTo>
                    <a:pt x="1787849" y="375920"/>
                    <a:pt x="1784039" y="400050"/>
                    <a:pt x="1795469" y="417830"/>
                  </a:cubicBezTo>
                  <a:cubicBezTo>
                    <a:pt x="1803089" y="429260"/>
                    <a:pt x="1814519" y="434340"/>
                    <a:pt x="1827219" y="434340"/>
                  </a:cubicBezTo>
                  <a:cubicBezTo>
                    <a:pt x="1834839" y="434340"/>
                    <a:pt x="1842459" y="431800"/>
                    <a:pt x="1848809" y="427990"/>
                  </a:cubicBezTo>
                  <a:lnTo>
                    <a:pt x="2111699" y="251460"/>
                  </a:lnTo>
                  <a:cubicBezTo>
                    <a:pt x="2121859" y="243840"/>
                    <a:pt x="2128209" y="232410"/>
                    <a:pt x="2128209" y="219710"/>
                  </a:cubicBezTo>
                  <a:cubicBezTo>
                    <a:pt x="2128209" y="207010"/>
                    <a:pt x="2121859" y="195580"/>
                    <a:pt x="2110429" y="187960"/>
                  </a:cubicBezTo>
                  <a:close/>
                </a:path>
              </a:pathLst>
            </a:custGeom>
            <a:solidFill>
              <a:srgbClr val="FFFAEF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5860314" y="8063071"/>
            <a:ext cx="16042359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endParaRPr dirty="0"/>
          </a:p>
          <a:p>
            <a:pPr algn="ctr">
              <a:lnSpc>
                <a:spcPts val="5740"/>
              </a:lnSpc>
            </a:pPr>
            <a:r>
              <a:rPr lang="ru-RU" sz="4100" dirty="0" smtClean="0">
                <a:solidFill>
                  <a:srgbClr val="FFFAEF"/>
                </a:solidFill>
                <a:latin typeface="Clear Sans Regular"/>
              </a:rPr>
              <a:t>ИДС 23.1/Б-19</a:t>
            </a:r>
            <a:endParaRPr lang="en-US" sz="4100" dirty="0">
              <a:solidFill>
                <a:srgbClr val="FFFAEF"/>
              </a:solidFill>
              <a:latin typeface="Clear Sans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776060">
            <a:off x="6566127" y="-2626442"/>
            <a:ext cx="15692466" cy="12107244"/>
          </a:xfrm>
          <a:prstGeom prst="rect">
            <a:avLst/>
          </a:prstGeom>
          <a:ln>
            <a:noFill/>
          </a:ln>
        </p:spPr>
      </p:pic>
      <p:sp>
        <p:nvSpPr>
          <p:cNvPr id="2" name="TextBox 2"/>
          <p:cNvSpPr txBox="1"/>
          <p:nvPr/>
        </p:nvSpPr>
        <p:spPr>
          <a:xfrm>
            <a:off x="762000" y="260718"/>
            <a:ext cx="171450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800"/>
              </a:lnSpc>
            </a:pPr>
            <a:r>
              <a:rPr lang="ru-RU" sz="9000" dirty="0">
                <a:solidFill>
                  <a:srgbClr val="000000"/>
                </a:solidFill>
                <a:latin typeface="Efour Digital Pro"/>
              </a:rPr>
              <a:t>Рабочие процессы преподавателя</a:t>
            </a:r>
            <a:endParaRPr lang="en-US" sz="9000" dirty="0">
              <a:solidFill>
                <a:srgbClr val="000000"/>
              </a:solidFill>
              <a:latin typeface="Efour Digital Pro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314700"/>
            <a:ext cx="17931066" cy="553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762000" y="342900"/>
            <a:ext cx="176784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800"/>
              </a:lnSpc>
            </a:pPr>
            <a:r>
              <a:rPr lang="ru-RU" sz="9000" dirty="0">
                <a:solidFill>
                  <a:srgbClr val="000000"/>
                </a:solidFill>
                <a:latin typeface="Efour Digital Pro"/>
              </a:rPr>
              <a:t>Проблемы в </a:t>
            </a:r>
            <a:r>
              <a:rPr lang="ru-RU" sz="9000" dirty="0" smtClean="0">
                <a:solidFill>
                  <a:srgbClr val="000000"/>
                </a:solidFill>
                <a:latin typeface="Efour Digital Pro"/>
              </a:rPr>
              <a:t>процессах преподавателя</a:t>
            </a:r>
            <a:endParaRPr lang="en-US" sz="9000" dirty="0">
              <a:solidFill>
                <a:srgbClr val="000000"/>
              </a:solidFill>
              <a:latin typeface="Efour Digital Pro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134424"/>
            <a:ext cx="1776591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8A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016799">
            <a:off x="8874952" y="4296532"/>
            <a:ext cx="11406363" cy="992353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0" y="501518"/>
            <a:ext cx="1659224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0800"/>
              </a:lnSpc>
            </a:pPr>
            <a:r>
              <a:rPr lang="ru-RU" sz="9000" dirty="0">
                <a:solidFill>
                  <a:srgbClr val="FFFAEF"/>
                </a:solidFill>
                <a:latin typeface="Efour Digital Pro"/>
              </a:rPr>
              <a:t>Способ решения проблем</a:t>
            </a:r>
            <a:endParaRPr lang="en-US" sz="9000" dirty="0">
              <a:solidFill>
                <a:srgbClr val="FFFAEF"/>
              </a:solidFill>
              <a:latin typeface="Efour Digital Pro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62000" y="2378869"/>
            <a:ext cx="8305800" cy="4252042"/>
            <a:chOff x="0" y="-28575"/>
            <a:chExt cx="11074401" cy="5669388"/>
          </a:xfrm>
        </p:grpSpPr>
        <p:sp>
          <p:nvSpPr>
            <p:cNvPr id="5" name="TextBox 5"/>
            <p:cNvSpPr txBox="1"/>
            <p:nvPr/>
          </p:nvSpPr>
          <p:spPr>
            <a:xfrm>
              <a:off x="0" y="2734035"/>
              <a:ext cx="11074401" cy="29067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3380"/>
                </a:lnSpc>
                <a:buFont typeface="Arial" panose="020B0604020202020204" pitchFamily="34" charset="0"/>
                <a:buChar char="•"/>
              </a:pPr>
              <a:r>
                <a:rPr lang="ru-RU" sz="3200" dirty="0" smtClean="0">
                  <a:solidFill>
                    <a:srgbClr val="FFFAEF"/>
                  </a:solidFill>
                  <a:latin typeface="Clear Sans Regular"/>
                </a:rPr>
                <a:t>Узнавание собственного расписания заблаговременно</a:t>
              </a:r>
            </a:p>
            <a:p>
              <a:pPr marL="457200" indent="-457200">
                <a:lnSpc>
                  <a:spcPts val="3380"/>
                </a:lnSpc>
                <a:buFont typeface="Arial" panose="020B0604020202020204" pitchFamily="34" charset="0"/>
                <a:buChar char="•"/>
              </a:pPr>
              <a:r>
                <a:rPr lang="ru-RU" sz="3200" dirty="0" smtClean="0">
                  <a:solidFill>
                    <a:srgbClr val="FFFAEF"/>
                  </a:solidFill>
                  <a:latin typeface="Clear Sans Regular"/>
                </a:rPr>
                <a:t>Раздача материала</a:t>
              </a:r>
            </a:p>
            <a:p>
              <a:pPr marL="457200" indent="-457200">
                <a:lnSpc>
                  <a:spcPts val="3380"/>
                </a:lnSpc>
                <a:buFont typeface="Arial" panose="020B0604020202020204" pitchFamily="34" charset="0"/>
                <a:buChar char="•"/>
              </a:pPr>
              <a:r>
                <a:rPr lang="ru-RU" sz="3200" dirty="0" smtClean="0">
                  <a:solidFill>
                    <a:srgbClr val="FFFAEF"/>
                  </a:solidFill>
                  <a:latin typeface="Clear Sans Regular"/>
                </a:rPr>
                <a:t>Контроль знаний</a:t>
              </a:r>
            </a:p>
            <a:p>
              <a:pPr marL="457200" indent="-457200">
                <a:lnSpc>
                  <a:spcPts val="3380"/>
                </a:lnSpc>
                <a:buFont typeface="Arial" panose="020B0604020202020204" pitchFamily="34" charset="0"/>
                <a:buChar char="•"/>
              </a:pPr>
              <a:r>
                <a:rPr lang="ru-RU" sz="3200" dirty="0" smtClean="0">
                  <a:solidFill>
                    <a:srgbClr val="FFFAEF"/>
                  </a:solidFill>
                  <a:latin typeface="Clear Sans Regular"/>
                </a:rPr>
                <a:t>Проверка курсовых работ</a:t>
              </a:r>
              <a:endParaRPr lang="en-US" sz="3200" dirty="0">
                <a:solidFill>
                  <a:srgbClr val="FFFAEF"/>
                </a:solidFill>
                <a:latin typeface="Clear Sans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0160001" cy="24109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680"/>
                </a:lnSpc>
              </a:pPr>
              <a:r>
                <a:rPr lang="ru-RU" sz="2800" dirty="0">
                  <a:solidFill>
                    <a:srgbClr val="FFFAEF"/>
                  </a:solidFill>
                  <a:latin typeface="Efour Digital Pro"/>
                </a:rPr>
                <a:t>Автоматизированное рабочее место преподавателя.</a:t>
              </a:r>
              <a:br>
                <a:rPr lang="ru-RU" sz="2800" dirty="0">
                  <a:solidFill>
                    <a:srgbClr val="FFFAEF"/>
                  </a:solidFill>
                  <a:latin typeface="Efour Digital Pro"/>
                </a:rPr>
              </a:br>
              <a:r>
                <a:rPr lang="ru-RU" sz="2800" dirty="0">
                  <a:solidFill>
                    <a:srgbClr val="FFFAEF"/>
                  </a:solidFill>
                  <a:latin typeface="Efour Digital Pro"/>
                </a:rPr>
                <a:t>Позволит решить следующие задачи: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53600" y="3872982"/>
            <a:ext cx="8534400" cy="3482648"/>
            <a:chOff x="-508000" y="-884020"/>
            <a:chExt cx="11379200" cy="4643530"/>
          </a:xfrm>
        </p:grpSpPr>
        <p:sp>
          <p:nvSpPr>
            <p:cNvPr id="8" name="TextBox 8"/>
            <p:cNvSpPr txBox="1"/>
            <p:nvPr/>
          </p:nvSpPr>
          <p:spPr>
            <a:xfrm>
              <a:off x="-508000" y="-884020"/>
              <a:ext cx="11379200" cy="1534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680"/>
                </a:lnSpc>
              </a:pPr>
              <a:r>
                <a:rPr lang="ru-RU" sz="2800" dirty="0">
                  <a:solidFill>
                    <a:srgbClr val="FFFAEF"/>
                  </a:solidFill>
                  <a:latin typeface="Efour Digital Pro"/>
                </a:rPr>
                <a:t>Необходимые улучшения информационной системы института:</a:t>
              </a:r>
              <a:endParaRPr lang="en-US" sz="2800" dirty="0">
                <a:solidFill>
                  <a:srgbClr val="FFFAEF"/>
                </a:solidFill>
                <a:latin typeface="Efour Digital Pro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508000" y="889665"/>
              <a:ext cx="6757428" cy="2869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ts val="3380"/>
                </a:lnSpc>
                <a:buFont typeface="Arial" panose="020B0604020202020204" pitchFamily="34" charset="0"/>
                <a:buChar char="•"/>
              </a:pPr>
              <a:r>
                <a:rPr lang="ru-RU" sz="3200" dirty="0" smtClean="0">
                  <a:solidFill>
                    <a:srgbClr val="FFFAEF"/>
                  </a:solidFill>
                  <a:latin typeface="Clear Sans Regular"/>
                </a:rPr>
                <a:t>Создание ИС, осуществляющий контроль и просмотр расписания</a:t>
              </a:r>
            </a:p>
            <a:p>
              <a:pPr marL="457200" indent="-457200">
                <a:lnSpc>
                  <a:spcPts val="3380"/>
                </a:lnSpc>
                <a:buFont typeface="Arial" panose="020B0604020202020204" pitchFamily="34" charset="0"/>
                <a:buChar char="•"/>
              </a:pPr>
              <a:endParaRPr lang="en-US" sz="2600" dirty="0">
                <a:solidFill>
                  <a:srgbClr val="FFFAEF"/>
                </a:solidFill>
                <a:latin typeface="Clear Sans Regula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0090262">
            <a:off x="-4082203" y="94345"/>
            <a:ext cx="8774007" cy="763338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33401" y="6664911"/>
            <a:ext cx="7848600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ru-RU" sz="7200" dirty="0">
                <a:solidFill>
                  <a:srgbClr val="000000"/>
                </a:solidFill>
                <a:latin typeface="Efour Digital Pro"/>
              </a:rPr>
              <a:t>Карта </a:t>
            </a:r>
            <a:r>
              <a:rPr lang="ru-RU" sz="7200" dirty="0" smtClean="0">
                <a:solidFill>
                  <a:srgbClr val="000000"/>
                </a:solidFill>
                <a:latin typeface="Efour Digital Pro"/>
              </a:rPr>
              <a:t>ИС существующей</a:t>
            </a:r>
            <a:endParaRPr lang="en-US" sz="7200" dirty="0">
              <a:solidFill>
                <a:srgbClr val="000000"/>
              </a:solidFill>
              <a:latin typeface="Efour Digital Pro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686800" y="-19050"/>
            <a:ext cx="9719003" cy="10287000"/>
          </a:xfrm>
          <a:prstGeom prst="rect">
            <a:avLst/>
          </a:prstGeom>
          <a:solidFill>
            <a:srgbClr val="7D8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647700"/>
            <a:ext cx="9379606" cy="5663052"/>
          </a:xfrm>
          <a:prstGeom prst="rect">
            <a:avLst/>
          </a:prstGeom>
        </p:spPr>
      </p:pic>
      <p:sp>
        <p:nvSpPr>
          <p:cNvPr id="11" name="TextBox 6"/>
          <p:cNvSpPr txBox="1"/>
          <p:nvPr/>
        </p:nvSpPr>
        <p:spPr>
          <a:xfrm>
            <a:off x="9525000" y="6664911"/>
            <a:ext cx="7848600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ru-RU" sz="7200" dirty="0">
                <a:solidFill>
                  <a:srgbClr val="000000"/>
                </a:solidFill>
                <a:latin typeface="Efour Digital Pro"/>
              </a:rPr>
              <a:t>Карта </a:t>
            </a:r>
            <a:r>
              <a:rPr lang="ru-RU" sz="7200" dirty="0" err="1" smtClean="0">
                <a:solidFill>
                  <a:srgbClr val="000000"/>
                </a:solidFill>
                <a:latin typeface="Efour Digital Pro"/>
              </a:rPr>
              <a:t>ис</a:t>
            </a:r>
            <a:r>
              <a:rPr lang="ru-RU" sz="7200" dirty="0" smtClean="0">
                <a:solidFill>
                  <a:srgbClr val="000000"/>
                </a:solidFill>
                <a:latin typeface="Efour Digital Pro"/>
              </a:rPr>
              <a:t> обновленная</a:t>
            </a:r>
            <a:endParaRPr lang="en-US" sz="7200" dirty="0">
              <a:solidFill>
                <a:srgbClr val="000000"/>
              </a:solidFill>
              <a:latin typeface="Efour Digital Pro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7700"/>
            <a:ext cx="8982253" cy="56630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6501364" flipV="1">
            <a:off x="8116514" y="-682579"/>
            <a:ext cx="10098649" cy="11868071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838200" y="3401855"/>
            <a:ext cx="7848600" cy="4411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ru-RU" sz="6000" dirty="0">
                <a:solidFill>
                  <a:srgbClr val="000000"/>
                </a:solidFill>
                <a:latin typeface="Efour Digital Pro"/>
              </a:rPr>
              <a:t>Информационные </a:t>
            </a:r>
            <a:endParaRPr lang="ru-RU" sz="6000" dirty="0" smtClean="0">
              <a:solidFill>
                <a:srgbClr val="000000"/>
              </a:solidFill>
              <a:latin typeface="Efour Digital Pro"/>
            </a:endParaRPr>
          </a:p>
          <a:p>
            <a:pPr>
              <a:lnSpc>
                <a:spcPts val="8640"/>
              </a:lnSpc>
            </a:pPr>
            <a:r>
              <a:rPr lang="ru-RU" sz="6000" dirty="0" smtClean="0">
                <a:solidFill>
                  <a:srgbClr val="000000"/>
                </a:solidFill>
                <a:latin typeface="Efour Digital Pro"/>
              </a:rPr>
              <a:t>объекты</a:t>
            </a:r>
            <a:r>
              <a:rPr lang="ru-RU" sz="6000" dirty="0">
                <a:solidFill>
                  <a:srgbClr val="000000"/>
                </a:solidFill>
                <a:latin typeface="Efour Digital Pro"/>
              </a:rPr>
              <a:t/>
            </a:r>
            <a:br>
              <a:rPr lang="ru-RU" sz="6000" dirty="0">
                <a:solidFill>
                  <a:srgbClr val="000000"/>
                </a:solidFill>
                <a:latin typeface="Efour Digital Pro"/>
              </a:rPr>
            </a:br>
            <a:r>
              <a:rPr lang="ru-RU" sz="6000" dirty="0">
                <a:solidFill>
                  <a:srgbClr val="000000"/>
                </a:solidFill>
                <a:latin typeface="Efour Digital Pro"/>
              </a:rPr>
              <a:t>в системе </a:t>
            </a:r>
            <a:endParaRPr lang="ru-RU" sz="6000" dirty="0" smtClean="0">
              <a:solidFill>
                <a:srgbClr val="000000"/>
              </a:solidFill>
              <a:latin typeface="Efour Digital Pro"/>
            </a:endParaRPr>
          </a:p>
          <a:p>
            <a:pPr>
              <a:lnSpc>
                <a:spcPts val="8640"/>
              </a:lnSpc>
            </a:pPr>
            <a:r>
              <a:rPr lang="ru-RU" sz="6000" dirty="0" smtClean="0">
                <a:solidFill>
                  <a:srgbClr val="000000"/>
                </a:solidFill>
                <a:latin typeface="Efour Digital Pro"/>
              </a:rPr>
              <a:t>института</a:t>
            </a:r>
            <a:endParaRPr lang="en-US" sz="6000" dirty="0">
              <a:solidFill>
                <a:srgbClr val="000000"/>
              </a:solidFill>
              <a:latin typeface="Efour Digital Pro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327185"/>
            <a:ext cx="8324851" cy="9521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8A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776060">
            <a:off x="-2208939" y="-907782"/>
            <a:ext cx="17928413" cy="13832349"/>
          </a:xfrm>
          <a:prstGeom prst="rect">
            <a:avLst/>
          </a:prstGeom>
          <a:ln>
            <a:noFill/>
          </a:ln>
        </p:spPr>
      </p:pic>
      <p:sp>
        <p:nvSpPr>
          <p:cNvPr id="13" name="TextBox 13"/>
          <p:cNvSpPr txBox="1"/>
          <p:nvPr/>
        </p:nvSpPr>
        <p:spPr>
          <a:xfrm>
            <a:off x="609600" y="1485900"/>
            <a:ext cx="17678400" cy="679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80"/>
              </a:lnSpc>
            </a:pPr>
            <a:r>
              <a:rPr lang="ru-RU" sz="6600" dirty="0">
                <a:solidFill>
                  <a:srgbClr val="FFFAEF"/>
                </a:solidFill>
                <a:latin typeface="Efour Digital Pro"/>
              </a:rPr>
              <a:t>Приложения </a:t>
            </a:r>
            <a:r>
              <a:rPr lang="ru-RU" sz="6600" dirty="0" smtClean="0">
                <a:solidFill>
                  <a:srgbClr val="FFFAEF"/>
                </a:solidFill>
                <a:latin typeface="Efour Digital Pro"/>
              </a:rPr>
              <a:t>на АРМ </a:t>
            </a:r>
            <a:r>
              <a:rPr lang="ru-RU" sz="6600" dirty="0">
                <a:solidFill>
                  <a:srgbClr val="FFFAEF"/>
                </a:solidFill>
                <a:latin typeface="Efour Digital Pro"/>
              </a:rPr>
              <a:t>преподавателя</a:t>
            </a:r>
            <a:endParaRPr lang="en-US" sz="6600" dirty="0">
              <a:solidFill>
                <a:srgbClr val="FFFAEF"/>
              </a:solidFill>
              <a:latin typeface="Efour Digital Pro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9" y="2781300"/>
            <a:ext cx="11582400" cy="70295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 rot="16200000">
            <a:off x="1891785" y="5643162"/>
            <a:ext cx="1521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Возможности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 rot="16200000">
            <a:off x="1925991" y="8310538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Зависимости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 rot="16200000">
            <a:off x="1931602" y="3319001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Приложения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421807" y="4057112"/>
            <a:ext cx="9444385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Efour Digital Pro"/>
              </a:rPr>
              <a:t>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69</Words>
  <Application>Microsoft Office PowerPoint</Application>
  <PresentationFormat>Произвольный</PresentationFormat>
  <Paragraphs>27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Efour Digital Pro</vt:lpstr>
      <vt:lpstr>Clear Sans Regular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Студент</cp:lastModifiedBy>
  <cp:revision>15</cp:revision>
  <dcterms:created xsi:type="dcterms:W3CDTF">2006-08-16T00:00:00Z</dcterms:created>
  <dcterms:modified xsi:type="dcterms:W3CDTF">2022-02-17T10:07:05Z</dcterms:modified>
  <dc:identifier>DAE4l4Yvq1Y</dc:identifier>
</cp:coreProperties>
</file>